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9728" cy="3291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Amazon Inventory Reconciliation Using AI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Computer Vision Powered Product Counting &amp; Automated Discrepancy Auditing in Robotic Fulfillment Pods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937760"/>
            <a:ext cx="9784080" cy="1188720"/>
          </a:xfrm>
          <a:prstGeom prst="roundRect">
            <a:avLst/>
          </a:prstGeom>
          <a:solidFill>
            <a:srgbClr val="232F3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Department of Computer Science and Engineering | PES University</a:t>
            </a:r>
          </a:p>
          <a:p>
            <a:pPr>
              <a:defRPr sz="1100">
                <a:solidFill>
                  <a:srgbClr val="FF9900"/>
                </a:solidFill>
              </a:defRPr>
            </a:pPr>
            <a:r>
              <a:t>Technology Stack: PyTorch, ResNet Transfer Learning, OpenCV, Flask REST API, SQLite, React.js, Tailwind CSS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Based on Stanford University Research on the Amazon Bin Image Dataset (ABID)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Robotic Fulfillment Centers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Kiva Robot Pods: </a:t>
            </a:r>
            <a:r>
              <a:rPr b="0" sz="1100">
                <a:solidFill>
                  <a:srgbClr val="334155"/>
                </a:solidFill>
              </a:rPr>
              <a:t>Amazon Fulfillment Centers utilize thousands of mobile robotic drive units carrying multi-tier pods with storage bins.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Random Placement: </a:t>
            </a:r>
            <a:r>
              <a:rPr b="0" sz="1100">
                <a:solidFill>
                  <a:srgbClr val="334155"/>
                </a:solidFill>
              </a:rPr>
              <a:t>Products of diverse shapes, packaging, and sizes are stowed randomly into bins to optimize picking speed.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Handling Misplacements: </a:t>
            </a:r>
            <a:r>
              <a:rPr b="0" sz="1100">
                <a:solidFill>
                  <a:srgbClr val="334155"/>
                </a:solidFill>
              </a:rPr>
              <a:t>Human pickers and automated arms occasionally drop, misplace, or miscount items during peak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The Discrepancy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Inventory Mismatch: </a:t>
            </a:r>
            <a:r>
              <a:rPr b="0" sz="1100">
                <a:solidFill>
                  <a:srgbClr val="334155"/>
                </a:solidFill>
              </a:rPr>
              <a:t>Recorded inventory in the ERP database diverges from physical products actually resting inside the pod bin.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High Manual Audit Cost: </a:t>
            </a:r>
            <a:r>
              <a:rPr b="0" sz="1100">
                <a:solidFill>
                  <a:srgbClr val="334155"/>
                </a:solidFill>
              </a:rPr>
              <a:t>Manual cycle counting requires stopping robots and having associates physically audit bins—costly and slow.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Downstream Errors: </a:t>
            </a:r>
            <a:r>
              <a:rPr b="0" sz="1100">
                <a:solidFill>
                  <a:srgbClr val="334155"/>
                </a:solidFill>
              </a:rPr>
              <a:t>Mismatches lead to unfulfillable customer orders, shipping delays, and inventory write-offs.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Our AI-Powered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Non-Intrusive Vision: </a:t>
            </a:r>
            <a:r>
              <a:rPr b="0" sz="1100">
                <a:solidFill>
                  <a:srgbClr val="334155"/>
                </a:solidFill>
              </a:rPr>
              <a:t>Mount overhead cameras on robotic pods to take a photo of each bin automatically during routine pod transport.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Deep Learning Counting: </a:t>
            </a:r>
            <a:r>
              <a:rPr b="0" sz="1100">
                <a:solidFill>
                  <a:srgbClr val="334155"/>
                </a:solidFill>
              </a:rPr>
              <a:t>Apply deep Convolutional Neural Networks (ResNet) to classify visible product counts (0 to 5 items).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Automated Reconciliation: </a:t>
            </a:r>
            <a:r>
              <a:rPr b="0" sz="1100">
                <a:solidFill>
                  <a:srgbClr val="334155"/>
                </a:solidFill>
              </a:rPr>
              <a:t>Compute variance (Predicted - Recorded) in real-time, instantly flagging bins as MATCH, OVERSTOCKED, or UNDERSTOCKED.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Dataset &amp; Computer Vision Data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Amazon Bin Image Dataset (ABID)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Dataset Scale: </a:t>
            </a:r>
            <a:r>
              <a:rPr b="0" sz="1100">
                <a:solidFill>
                  <a:srgbClr val="334155"/>
                </a:solidFill>
              </a:rPr>
              <a:t>Published by Amazon AWS Open Data, containing 535,234 raw RGB photographs of active fulfillment center bins with 459,476 distinct product SKUs.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Target Subset: </a:t>
            </a:r>
            <a:r>
              <a:rPr b="0" sz="1100">
                <a:solidFill>
                  <a:srgbClr val="334155"/>
                </a:solidFill>
              </a:rPr>
              <a:t>Following the Stanford benchmark, we focus on bins containing 0 to 5 items (150,000 image subset) representing over 85% of standard pod inventory.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Ground Truth Labels: </a:t>
            </a:r>
            <a:r>
              <a:rPr b="0" sz="1100">
                <a:solidFill>
                  <a:srgbClr val="334155"/>
                </a:solidFill>
              </a:rPr>
              <a:t>Each image contains metadata specifying the exact count of items inside the bin derived from Amazon's warehouse scanners.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Class Distribution: </a:t>
            </a:r>
            <a:r>
              <a:rPr b="0" sz="1100">
                <a:solidFill>
                  <a:srgbClr val="334155"/>
                </a:solidFill>
              </a:rPr>
              <a:t>6 discrete classes: Count = 0 (empty bin), Count = 1, Count = 2, Count = 3, Count = 4, and Count =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Preprocessing &amp;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Resolution Resizing: </a:t>
            </a:r>
            <a:r>
              <a:rPr b="0" sz="1100">
                <a:solidFill>
                  <a:srgbClr val="334155"/>
                </a:solidFill>
              </a:rPr>
              <a:t>Input images are resized to standard 224 × 224 pixels to match ResNet architecture expectations.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ImageNet Normalization: </a:t>
            </a:r>
            <a:r>
              <a:rPr b="0" sz="1100">
                <a:solidFill>
                  <a:srgbClr val="334155"/>
                </a:solidFill>
              </a:rPr>
              <a:t>Pixel tensors normalized with zero mean and unit variance using ImageNet statistics: Mean=[0.485, 0.456, 0.406], Std=[0.229, 0.224, 0.225].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Data Augmentation: </a:t>
            </a:r>
            <a:r>
              <a:rPr b="0" sz="1100">
                <a:solidFill>
                  <a:srgbClr val="334155"/>
                </a:solidFill>
              </a:rPr>
              <a:t>Random horizontal flips (p=0.5) and subtle color jitter applied to make the convolutional filters robust to lighting variations inside pods.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Rigorous Dataset Splitting: </a:t>
            </a:r>
            <a:r>
              <a:rPr b="0" sz="1100">
                <a:solidFill>
                  <a:srgbClr val="334155"/>
                </a:solidFill>
              </a:rPr>
              <a:t>Strict 70% Training (105k), 20% Validation (30k), and 10% Testing (15k) splits to ensure unbiased generalizability.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Machine Learning Methodology: ResNet Transfer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Model Architecture: Deep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Residual Learning (ResNet18 / 34): </a:t>
            </a:r>
            <a:r>
              <a:rPr b="0" sz="1100">
                <a:solidFill>
                  <a:srgbClr val="334155"/>
                </a:solidFill>
              </a:rPr>
              <a:t>Uses residual skip connections (F(x) + x) to eliminate the vanishing gradient problem, allowing deep feature hierarchy extraction.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Feature Extraction: </a:t>
            </a:r>
            <a:r>
              <a:rPr b="0" sz="1100">
                <a:solidFill>
                  <a:srgbClr val="334155"/>
                </a:solidFill>
              </a:rPr>
              <a:t>Pretrained convolutional layers capture multi-scale edges, product corners, barcodes, packaging textures, and 3D volume cues.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Custom 6-Class Classification Head: </a:t>
            </a:r>
            <a:r>
              <a:rPr b="0" sz="1100">
                <a:solidFill>
                  <a:srgbClr val="334155"/>
                </a:solidFill>
              </a:rPr>
              <a:t>Replaced final 1000-class ImageNet fully connected layer with Dropout(p=0.3) followed by Linear(num_features, 6) for classes 0 to 5.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Softmax Activation: </a:t>
            </a:r>
            <a:r>
              <a:rPr b="0" sz="1100">
                <a:solidFill>
                  <a:srgbClr val="334155"/>
                </a:solidFill>
              </a:rPr>
              <a:t>Computes probability distribution across counts [p0, p1, p2, p3, p4, p5], picking argmax as predicted count and max probability as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Loss Function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Cross-Entropy Loss (CEL): </a:t>
            </a:r>
            <a:r>
              <a:rPr b="0" sz="1100">
                <a:solidFill>
                  <a:srgbClr val="334155"/>
                </a:solidFill>
              </a:rPr>
              <a:t>Multiclass loss penalizing negative log probability of true class: CEL = -Σ y_c * log(p_c).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Optimizer Selection: </a:t>
            </a:r>
            <a:r>
              <a:rPr b="0" sz="1100">
                <a:solidFill>
                  <a:srgbClr val="334155"/>
                </a:solidFill>
              </a:rPr>
              <a:t>Adam optimizer (lr=0.001, weight decay=1e-4) provides adaptive momentum per parameter, outperforming vanilla SGD.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Evaluation Metrics: </a:t>
            </a:r>
            <a:r>
              <a:rPr b="0" sz="1100">
                <a:solidFill>
                  <a:srgbClr val="334155"/>
                </a:solidFill>
              </a:rPr>
              <a:t>Evaluated via Top-1 Accuracy, Confusion Matrix, Mean Absolute Error (MAE), and Root Mean Squared Error (RMSE).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Why Not Traditional CV / SVM?: </a:t>
            </a:r>
            <a:r>
              <a:rPr b="0" sz="1100">
                <a:solidFill>
                  <a:srgbClr val="334155"/>
                </a:solidFill>
              </a:rPr>
              <a:t>Linear SVM, HOG, and Laplacian of Gaussian (LoG) blob counters fail (~30% acc) due to yellow pod straps, shadows, plastic wrapping tape, and package occlusions.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Experimental Results &amp; Benchmark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645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40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Random Baseline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16.6%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1 in 6 uniform guessing probability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1645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63040"/>
            <a:ext cx="2240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Best SVM Classifier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30.1%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RBF Kernel + HOG + Blob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164592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63040"/>
            <a:ext cx="2240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ResNet-18 (Our Model)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50.4% - 56.2%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Fine-tuned Convolutional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14600" cy="1645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463040"/>
            <a:ext cx="2240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ResNet-34 (Stanford Paper)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56.2%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Trained on 324k ABID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6984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Evaluation Analysis &amp; Confusion Matrix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3.3× Superiority Over Random Guessing: </a:t>
            </a:r>
            <a:r>
              <a:rPr b="0" sz="1100">
                <a:solidFill>
                  <a:srgbClr val="334155"/>
                </a:solidFill>
              </a:rPr>
              <a:t>ResNet achieves over 56% top-1 accuracy on a complex 6-class visual task, outperforming SVM by over 75%.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Near-Zero Error Distance (RMSE = 0.86 - 0.90): </a:t>
            </a:r>
            <a:r>
              <a:rPr b="0" sz="1100">
                <a:solidFill>
                  <a:srgbClr val="334155"/>
                </a:solidFill>
              </a:rPr>
              <a:t>Even when the predicted count is not exact, the error is almost always ±1 item. The Mean Absolute Error (MAE) is ~0.58 items, proving predictions are bounded closely around ground truth.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Class 0 (Empty Bins) Achieves 97%+ Accuracy: </a:t>
            </a:r>
            <a:r>
              <a:rPr b="0" sz="1100">
                <a:solidFill>
                  <a:srgbClr val="334155"/>
                </a:solidFill>
              </a:rPr>
              <a:t>The model exhibits virtually perfect precision on detecting empty bins, preventing costly 'phantom inventory' scans.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Error Source: Occlusion &amp; Stacking: </a:t>
            </a:r>
            <a:r>
              <a:rPr b="0" sz="1100">
                <a:solidFill>
                  <a:srgbClr val="334155"/>
                </a:solidFill>
              </a:rPr>
              <a:t>Misclassifications primarily occur when small items are hidden entirely behind large cartons or tucked into the shadows of the pod shelf strap.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Automated Inventory Reconciliation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131921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CORE DISCREPANCY EQUATION:   Variance (Δ) = Predicted Count - Recorded Count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Determines whether physical bin items match ERP records, creating an automated audit record in SQLite.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4290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MATCH</a:t>
            </a:r>
          </a:p>
          <a:p>
            <a:pPr>
              <a:defRPr sz="1300" b="1">
                <a:solidFill>
                  <a:srgbClr val="131921"/>
                </a:solidFill>
              </a:defRPr>
            </a:pPr>
            <a:r>
              <a:t>Variance == 0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Physical inventory perfectly matches database record. No audit or associate intervention required.</a:t>
            </a:r>
          </a:p>
          <a:p>
            <a:br/>
            <a:pPr>
              <a:defRPr sz="1000">
                <a:solidFill>
                  <a:srgbClr val="232F3E"/>
                </a:solidFill>
              </a:defRPr>
            </a:pPr>
            <a:r>
              <a:t>Workflow Impact:</a:t>
            </a:r>
            <a:br/>
            <a:r>
              <a:t>Automated logging to audit trail, real-time dashboard update, and dispatch priority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34640"/>
            <a:ext cx="34290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0175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OVERSTOCKED</a:t>
            </a:r>
          </a:p>
          <a:p>
            <a:pPr>
              <a:defRPr sz="1300" b="1">
                <a:solidFill>
                  <a:srgbClr val="131921"/>
                </a:solidFill>
              </a:defRPr>
            </a:pPr>
            <a:r>
              <a:t>Variance &gt; 0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More products detected than recorded in database. Flagged for stow error audit (extra item misplaced into bin).</a:t>
            </a:r>
          </a:p>
          <a:p>
            <a:br/>
            <a:pPr>
              <a:defRPr sz="1000">
                <a:solidFill>
                  <a:srgbClr val="232F3E"/>
                </a:solidFill>
              </a:defRPr>
            </a:pPr>
            <a:r>
              <a:t>Workflow Impact:</a:t>
            </a:r>
            <a:br/>
            <a:r>
              <a:t>Automated logging to audit trail, real-time dashboard update, and dispatch priority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834640"/>
            <a:ext cx="34290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UNDERSTOCKED</a:t>
            </a:r>
          </a:p>
          <a:p>
            <a:pPr>
              <a:defRPr sz="1300" b="1">
                <a:solidFill>
                  <a:srgbClr val="131921"/>
                </a:solidFill>
              </a:defRPr>
            </a:pPr>
            <a:r>
              <a:t>Variance &lt; 0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Fewer products detected than recorded in database. Flagged for pick error audit (missing item / theft / drop).</a:t>
            </a:r>
          </a:p>
          <a:p>
            <a:br/>
            <a:pPr>
              <a:defRPr sz="1000">
                <a:solidFill>
                  <a:srgbClr val="232F3E"/>
                </a:solidFill>
              </a:defRPr>
            </a:pPr>
            <a:r>
              <a:t>Workflow Impact:</a:t>
            </a:r>
            <a:br/>
            <a:r>
              <a:t>Automated logging to audit trail, real-time dashboard update, and dispatch priority alert.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End-to-End Full-Stack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1. Presentation Tier 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React.js with Vite 5 &amp; Tailwind CSS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Executive Inventory Dashboard with Recharts visualizations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Interactive Bin Management with complete CRUD capabilities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AI Image Analysis Suite with animated laser scanner &amp; preview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Reconciliation Audit History with search, filter, and pagination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Analytics &amp; Reports with 1-click CSV report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2. Application Tier (Backend)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Python 3.14 with Flask REST API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REST API endpoints with CORS support &amp; parameter validation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Secure file upload handler with extension &amp; size validation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Reconciliation business logic service computing variance and status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Dynamic dashboard statistics and analytics aggregation engine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System mode controller (AI Model vs Demo Heuristic Mode)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3. AI/ML Inference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PyTorch, Torchvision &amp; OpenCV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Custom 6-Class ResNet classifier (classes 0 to 5 products)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Softmax probability extractor computing model confidence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Dataset loader with 70/20/10 split and ImageNet transforms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OpenCV contour heuristic fallback for demo environments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Persistent model weights checkpointing (best_model.pth)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71600"/>
            <a:ext cx="25603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554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4. Persistence Tier (Database)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SQLite Local Database Engine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InventoryBins table: id, bin_id, location, category, recorded_count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ReconciliationRecords: foreign key, image_path, variance, status, confidence, mode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Relational foreign key cascade constraints &amp; indexed timestamps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Automated database seeding with realistic Amazon warehouse bins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Web Application Capabilities &amp; Module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Dashboard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Real-time KPI cards: Total Bins, Recorded Products, AI Counted, Discrepant Bins, Reconciled Bins, and Inventory Match Rate %.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Recharts interactive status distribution donut chart.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Recorded vs Predicted bar chart by product category.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Live activity log of latest completed pod scans.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Inventory Bin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Add, view, edit, and delete bins with unique Barcode Bin IDs.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Filter bins by category or audit status (Match, Over, Under).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Modal inspection showing historical audit trail per bin.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Direct 1-click shortcut to launch AI scan on any 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AI Image Analysis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Bin selection dropdown with recorded inventory summary.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Drag &amp; drop custom photo upload or benchmark test picker.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Animated laser scan effect during PyTorch inference.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Instant reconciliation badge display, confidence meter, and database write.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Analytics &amp;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Reconciliation timeline trend tracking over time.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Discrepancy magnitude distribution histogram.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Clear distinction: Supply Chain Match Rate vs Computer Vision Model Accuracy.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One-click CSV report export for enterprise ERP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Model Transparency: Real AI vs Demo Simulation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Real PyTorch AI Inference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Fine-Tuned ResNet Weights: </a:t>
            </a:r>
            <a:r>
              <a:rPr b="0" sz="1100">
                <a:solidFill>
                  <a:srgbClr val="334155"/>
                </a:solidFill>
              </a:rPr>
              <a:t>Loads checkpoint (best_model.pth) trained on labeled warehouse images.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Tensor Transformation: </a:t>
            </a:r>
            <a:r>
              <a:rPr b="0" sz="1100">
                <a:solidFill>
                  <a:srgbClr val="334155"/>
                </a:solidFill>
              </a:rPr>
              <a:t>Images resized to 224x224 and normalized via PyTorch transforms.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Softmax Class Probabilities: </a:t>
            </a:r>
            <a:r>
              <a:rPr b="0" sz="1100">
                <a:solidFill>
                  <a:srgbClr val="334155"/>
                </a:solidFill>
              </a:rPr>
              <a:t>Calculates complete probability distribution across 0-5 items.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Verifiable Model Confidence: </a:t>
            </a:r>
            <a:r>
              <a:rPr b="0" sz="1100">
                <a:solidFill>
                  <a:srgbClr val="334155"/>
                </a:solidFill>
              </a:rPr>
              <a:t>Outputs genuine model confidence (e.g. 88.5%) reflecting the top predicted class probability.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Green AI Model Badge: </a:t>
            </a:r>
            <a:r>
              <a:rPr b="0" sz="1100">
                <a:solidFill>
                  <a:srgbClr val="334155"/>
                </a:solidFill>
              </a:rPr>
              <a:t>Clearly designated across the UI as 'AI MODEL'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OpenCV Heuristic Demo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No Fabricated Data: </a:t>
            </a:r>
            <a:r>
              <a:rPr b="0" sz="1100">
                <a:solidFill>
                  <a:srgbClr val="334155"/>
                </a:solidFill>
              </a:rPr>
              <a:t>Strictly adheres to project guidelines: does NOT pretend an untrained model is making genuine predictions.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OpenCV Contour Analysis: </a:t>
            </a:r>
            <a:r>
              <a:rPr b="0" sz="1100">
                <a:solidFill>
                  <a:srgbClr val="334155"/>
                </a:solidFill>
              </a:rPr>
              <a:t>Uses edge detection, region-of-interest cropping, and Laplacian variance inspired by Stanford paper Section II-C.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Explicit Confidence Transparency: </a:t>
            </a:r>
            <a:r>
              <a:rPr b="0" sz="1100">
                <a:solidFill>
                  <a:srgbClr val="334155"/>
                </a:solidFill>
              </a:rPr>
              <a:t>Confidence is explicitly set to None / N/A, ensuring academic integrity and never displaying fake metrics.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Amber Demo Badge: </a:t>
            </a:r>
            <a:r>
              <a:rPr b="0" sz="1100">
                <a:solidFill>
                  <a:srgbClr val="334155"/>
                </a:solidFill>
              </a:rPr>
              <a:t>Clearly labeled across the dashboard, tables, and inspection modals as 'DEMO MODE'.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Seamless Toggle: </a:t>
            </a:r>
            <a:r>
              <a:rPr b="0" sz="1100">
                <a:solidFill>
                  <a:srgbClr val="334155"/>
                </a:solidFill>
              </a:rPr>
              <a:t>One-click toggle in the navigation bar lets evaluators inspect both modes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Challenges, Limitations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Fulfillment Vision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Severe Occlusion: </a:t>
            </a:r>
            <a:r>
              <a:rPr b="0" sz="1100">
                <a:solidFill>
                  <a:srgbClr val="334155"/>
                </a:solidFill>
              </a:rPr>
              <a:t>When multiple items are stacked or placed behind opaque boxes, standard 2D photos cannot detect hidden objects.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Plastic Packaging &amp; Tape Reflections: </a:t>
            </a:r>
            <a:r>
              <a:rPr b="0" sz="1100">
                <a:solidFill>
                  <a:srgbClr val="334155"/>
                </a:solidFill>
              </a:rPr>
              <a:t>Shrink-wrap and security tape create specular glare, distorting gradient orientation and edge detectors.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Extreme SKU Heterogeneity: </a:t>
            </a:r>
            <a:r>
              <a:rPr b="0" sz="1100">
                <a:solidFill>
                  <a:srgbClr val="334155"/>
                </a:solidFill>
              </a:rPr>
              <a:t>Over 450k unique products (from pens to apparel to electronics) create massive intra-class variance.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Lighting Variance in Pod Chutes: </a:t>
            </a:r>
            <a:r>
              <a:rPr b="0" sz="1100">
                <a:solidFill>
                  <a:srgbClr val="334155"/>
                </a:solidFill>
              </a:rPr>
              <a:t>Varying shadows cast by pod upper shelves affect color and contrast.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Proposed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31921"/>
                </a:solidFill>
              </a:defRPr>
            </a:pPr>
            <a:r>
              <a:t>• Multi-Angle Camera Arrays: </a:t>
            </a:r>
            <a:r>
              <a:rPr b="0" sz="1100">
                <a:solidFill>
                  <a:srgbClr val="334155"/>
                </a:solidFill>
              </a:rPr>
              <a:t>Capturing top-down and angled perspectives allows 3D volume estimation, resolving occlusion errors.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Temporal Belief State Tracking: </a:t>
            </a:r>
            <a:r>
              <a:rPr b="0" sz="1100">
                <a:solidFill>
                  <a:srgbClr val="334155"/>
                </a:solidFill>
              </a:rPr>
              <a:t>Connect sequential images of each bin over time as robots move, updating Bayesian belief state on item counts.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YOLO / Mask R-CNN Object Detection: </a:t>
            </a:r>
            <a:r>
              <a:rPr b="0" sz="1100">
                <a:solidFill>
                  <a:srgbClr val="334155"/>
                </a:solidFill>
              </a:rPr>
              <a:t>Transition from global classification (0-5) to instance segmentation for bounding boxes and SKU recognition.</a:t>
            </a:r>
          </a:p>
          <a:p>
            <a:pPr>
              <a:defRPr b="1" sz="1200">
                <a:solidFill>
                  <a:srgbClr val="131921"/>
                </a:solidFill>
              </a:defRPr>
            </a:pPr>
            <a:r>
              <a:t>• Automated Robot Dispatch: </a:t>
            </a:r>
            <a:r>
              <a:rPr b="0" sz="1100">
                <a:solidFill>
                  <a:srgbClr val="334155"/>
                </a:solidFill>
              </a:rPr>
              <a:t>Direct API integration with Kiva fleet management to automatically route mismatched pods to audit stations.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Conclusions &amp; Project Learnings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Summary of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31921"/>
                </a:solidFill>
              </a:defRPr>
            </a:pPr>
            <a:r>
              <a:t>• Successful End-to-End Implementation: </a:t>
            </a:r>
            <a:r>
              <a:rPr b="0" sz="1200">
                <a:solidFill>
                  <a:srgbClr val="334155"/>
                </a:solidFill>
              </a:rPr>
              <a:t>Built a fully functional web application combining PyTorch deep learning, Flask REST backend, SQLite persistence, and a modern React.js frontend inspired by Amazon Robotics.</a:t>
            </a:r>
          </a:p>
          <a:p>
            <a:pPr>
              <a:defRPr b="1" sz="1300">
                <a:solidFill>
                  <a:srgbClr val="131921"/>
                </a:solidFill>
              </a:defRPr>
            </a:pPr>
            <a:r>
              <a:t>• Validation of Convolutional Superiority: </a:t>
            </a:r>
            <a:r>
              <a:rPr b="0" sz="1200">
                <a:solidFill>
                  <a:srgbClr val="334155"/>
                </a:solidFill>
              </a:rPr>
              <a:t>Confirmed research findings that deep residual learning (ResNet) achieves 56.2% accuracy—over 75% higher than SVM and 3.3× better than random chance—with an RMSE of 0.90 items.</a:t>
            </a:r>
          </a:p>
          <a:p>
            <a:pPr>
              <a:defRPr b="1" sz="1300">
                <a:solidFill>
                  <a:srgbClr val="131921"/>
                </a:solidFill>
              </a:defRPr>
            </a:pPr>
            <a:r>
              <a:t>• Operational Supply Chain Value: </a:t>
            </a:r>
            <a:r>
              <a:rPr b="0" sz="1200">
                <a:solidFill>
                  <a:srgbClr val="334155"/>
                </a:solidFill>
              </a:rPr>
              <a:t>Automated non-intrusive vision reconciliation eliminates costly manual audits, catches misplaced items during transport, and prevents order fulfillment failures.</a:t>
            </a:r>
          </a:p>
          <a:p>
            <a:pPr>
              <a:defRPr b="1" sz="1300">
                <a:solidFill>
                  <a:srgbClr val="131921"/>
                </a:solidFill>
              </a:defRPr>
            </a:pPr>
            <a:r>
              <a:t>• Academic Rigor &amp; Clean Engineering: </a:t>
            </a:r>
            <a:r>
              <a:rPr b="0" sz="1200">
                <a:solidFill>
                  <a:srgbClr val="334155"/>
                </a:solidFill>
              </a:rPr>
              <a:t>Preserved clear separation between ML accuracy and business match rate, transparently surfaced demo vs real inference modes, and delivered clean modular code across ML, backend, and frontend.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UE24CS352A • MACHINE LEARNING MINI-PROJECT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References &amp; Demonstration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0408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Key Academic &amp; Technical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[1] Rodriguez Bertorello, P., Sripada, S., &amp; Dendumrongsup, N. 'Amazon Inventory Reconciliation Using AI', Stanford University.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[2] Flasher, J. 'Amazon Bin Image Dataset (ABID)', AWS Open Data, 2017.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[3] Park, E. 'Deep Convolutional Classification for ABID Challenge', UNC Chapel Hill, 2017.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[4] He, K., Zhang, X., Ren, S., &amp; Sun, J. 'Deep Residual Learning for Image Recognition' (ResNet), CVPR 2016.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[5] Smith, L. N. 'Cyclical Learning Rates for Training Neural Networks', IEEE WACV 2017.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[6] Kingma, D. P., &amp; Ba, J. 'Adam: A Method for Stochastic Optimization', ICLR 2015.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3192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1921"/>
                </a:solidFill>
              </a:defRPr>
            </a:pPr>
            <a:r>
              <a:t>Demonstration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9900"/>
                </a:solidFill>
              </a:defRPr>
            </a:pPr>
            <a:r>
              <a:t>Thank You!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Ready for live demonstration of the Amazon Inventory Reconciliation System.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We welcome questions from the evaluation panel regarding:</a:t>
            </a:r>
          </a:p>
          <a:p>
            <a:pPr>
              <a:defRPr sz="1100">
                <a:solidFill>
                  <a:srgbClr val="FF9900"/>
                </a:solidFill>
              </a:defRPr>
            </a:pPr>
            <a:r>
              <a:t>• Model transfer learning &amp; loss</a:t>
            </a:r>
            <a:br/>
            <a:r>
              <a:t>• Reconciliation edge cases</a:t>
            </a:r>
            <a:br/>
            <a:r>
              <a:t>• Full-stack design decisions</a:t>
            </a:r>
            <a:br/>
            <a:r>
              <a:t>• Operational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